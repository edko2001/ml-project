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291840" cy="51435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0"/>
            <a:ext cx="2560320" cy="2743200"/>
          </a:xfrm>
          <a:prstGeom prst="rect">
            <a:avLst/>
          </a:prstGeom>
          <a:noFill/>
        </p:spPr>
        <p:txBody>
          <a:bodyPr wrap="square" lIns="76200" rIns="76200" tIns="38100" bIns="38100" anchor="ctr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CS582 — Machine Learning</a:t>
            </a:r>
          </a:p>
          <a:p>
            <a:pPr>
              <a:spcAft>
                <a:spcPts val="500"/>
              </a:spcAft>
              <a:defRPr sz="1100" b="0">
                <a:solidFill>
                  <a:srgbClr val="E0F2F1"/>
                </a:solidFill>
              </a:defRPr>
            </a:pPr>
            <a:r>
              <a:t>Final Project</a:t>
            </a:r>
          </a:p>
          <a:p>
            <a:pPr>
              <a:spcAft>
                <a:spcPts val="500"/>
              </a:spcAft>
              <a:defRPr sz="1100" b="0">
                <a:solidFill>
                  <a:srgbClr val="E0F2F1"/>
                </a:solidFill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051560"/>
            <a:ext cx="5029200" cy="32004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0D2B4E"/>
                </a:solidFill>
              </a:defRPr>
            </a:pPr>
            <a:r>
              <a:t>Breast Cancer Prediction Using</a:t>
            </a:r>
          </a:p>
          <a:p>
            <a:pPr>
              <a:spcAft>
                <a:spcPts val="400"/>
              </a:spcAft>
              <a:defRPr sz="2800" b="1">
                <a:solidFill>
                  <a:srgbClr val="0D2B4E"/>
                </a:solidFill>
              </a:defRPr>
            </a:pPr>
            <a:r>
              <a:t>Machine Learning and</a:t>
            </a:r>
          </a:p>
          <a:p>
            <a:pPr>
              <a:spcAft>
                <a:spcPts val="1200"/>
              </a:spcAft>
              <a:defRPr sz="2800" b="1">
                <a:solidFill>
                  <a:srgbClr val="00796B"/>
                </a:solidFill>
              </a:defRPr>
            </a:pPr>
            <a:r>
              <a:t>Feature Selection Techniques</a:t>
            </a:r>
          </a:p>
          <a:p>
            <a:pPr>
              <a:spcAft>
                <a:spcPts val="400"/>
              </a:spcAft>
              <a:defRPr sz="1400" b="1">
                <a:solidFill>
                  <a:srgbClr val="666666"/>
                </a:solidFill>
              </a:defRPr>
            </a:pPr>
            <a:r>
              <a:t>CS582 Project Team</a:t>
            </a:r>
          </a:p>
          <a:p>
            <a:pPr>
              <a:spcAft>
                <a:spcPts val="200"/>
              </a:spcAft>
              <a:defRPr sz="1100" b="0">
                <a:solidFill>
                  <a:srgbClr val="666666"/>
                </a:solidFill>
              </a:defRPr>
            </a:pPr>
            <a:r>
              <a:t>Eduard Koshkelyan · 618667</a:t>
            </a:r>
          </a:p>
          <a:p>
            <a:pPr>
              <a:spcAft>
                <a:spcPts val="200"/>
              </a:spcAft>
              <a:defRPr sz="1100" b="0">
                <a:solidFill>
                  <a:srgbClr val="666666"/>
                </a:solidFill>
              </a:defRPr>
            </a:pPr>
            <a:r>
              <a:t>Pham Hoang Quoc Viet Nguyen · 618690</a:t>
            </a:r>
          </a:p>
          <a:p>
            <a:pPr>
              <a:spcAft>
                <a:spcPts val="200"/>
              </a:spcAft>
              <a:defRPr sz="1100" b="0">
                <a:solidFill>
                  <a:srgbClr val="666666"/>
                </a:solidFill>
              </a:defRPr>
            </a:pPr>
            <a:r>
              <a:t>Quang Thanh Nguyen · 618992</a:t>
            </a:r>
          </a:p>
          <a:p>
            <a:pPr>
              <a:spcAft>
                <a:spcPts val="200"/>
              </a:spcAft>
              <a:defRPr sz="1100" b="0">
                <a:solidFill>
                  <a:srgbClr val="666666"/>
                </a:solidFill>
              </a:defRPr>
            </a:pPr>
            <a:r>
              <a:t>Thi Thanh Sen Doan · 618665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8046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  <a:defRPr sz="1300" b="0">
                <a:solidFill>
                  <a:srgbClr val="212121"/>
                </a:solidFill>
              </a:defRPr>
            </a:pPr>
            <a:r>
              <a:t>1.  Background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804672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  <a:defRPr sz="1300" b="0">
                <a:solidFill>
                  <a:srgbClr val="212121"/>
                </a:solidFill>
              </a:defRPr>
            </a:pPr>
            <a:r>
              <a:t>2.  Research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02536"/>
            <a:ext cx="8046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  <a:defRPr sz="1300" b="0">
                <a:solidFill>
                  <a:srgbClr val="212121"/>
                </a:solidFill>
              </a:defRPr>
            </a:pPr>
            <a:r>
              <a:t>3.  Dataset &amp; exploratory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78024"/>
            <a:ext cx="804672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  <a:defRPr sz="1300" b="0">
                <a:solidFill>
                  <a:srgbClr val="212121"/>
                </a:solidFill>
              </a:defRPr>
            </a:pPr>
            <a:r>
              <a:t>4.  Methodology &amp; feature selection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53512"/>
            <a:ext cx="8046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  <a:defRPr sz="1300" b="0">
                <a:solidFill>
                  <a:srgbClr val="212121"/>
                </a:solidFill>
              </a:defRPr>
            </a:pPr>
            <a:r>
              <a:t>5.  Model comparison &amp;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804672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  <a:defRPr sz="1300" b="0">
                <a:solidFill>
                  <a:srgbClr val="212121"/>
                </a:solidFill>
              </a:defRPr>
            </a:pPr>
            <a:r>
              <a:t>6.  Explainability (SHAP) &amp;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04487"/>
            <a:ext cx="8046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  <a:defRPr sz="1300" b="0">
                <a:solidFill>
                  <a:srgbClr val="212121"/>
                </a:solidFill>
              </a:defRPr>
            </a:pPr>
            <a:r>
              <a:t>7.  Conclusions, limitations &amp;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0D2B4E"/>
                </a:solidFill>
              </a:defRPr>
            </a:pPr>
            <a:r>
              <a:t>Project Team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</a:tblGrid>
              <a:tr h="502920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0D2B4E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Student ID</a:t>
                      </a:r>
                    </a:p>
                  </a:txBody>
                  <a:tcPr anchor="ctr">
                    <a:solidFill>
                      <a:srgbClr val="0D2B4E"/>
                    </a:solidFill>
                  </a:tcPr>
                </a:tc>
              </a:tr>
              <a:tr h="502920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Eduard Koshkelyan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618667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Pham Hoang Quoc Viet Nguyen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618690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Quang Thanh Nguyen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618992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Thi Thanh Sen Doan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618665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47872"/>
            <a:ext cx="8046720" cy="50292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t>CS582 — Machine Learning final project 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Clinical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38328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12121"/>
                </a:solidFill>
              </a:defRPr>
            </a:pPr>
            <a:r>
              <a:t>Breast cancer is a leading cause of cancer-related deaths among women worldwide.</a:t>
            </a:r>
          </a:p>
          <a:p>
            <a:pPr>
              <a:spcAft>
                <a:spcPts val="500"/>
              </a:spcAft>
              <a:defRPr sz="1400" b="0">
                <a:solidFill>
                  <a:srgbClr val="212121"/>
                </a:solidFill>
              </a:defRPr>
            </a:pPr>
            <a:r>
              <a:t>Early and accurate diagnosis significantly improves treatment outcomes and survival.</a:t>
            </a:r>
          </a:p>
          <a:p>
            <a:pPr>
              <a:spcAft>
                <a:spcPts val="500"/>
              </a:spcAft>
              <a:defRPr sz="1400" b="0">
                <a:solidFill>
                  <a:srgbClr val="212121"/>
                </a:solidFill>
              </a:defRPr>
            </a:pPr>
            <a:r>
              <a:t>Machine learning can assist clinicians by classifying tumors as benign or malignant.</a:t>
            </a:r>
          </a:p>
          <a:p>
            <a:pPr>
              <a:spcAft>
                <a:spcPts val="500"/>
              </a:spcAft>
              <a:defRPr sz="1400" b="0">
                <a:solidFill>
                  <a:srgbClr val="212121"/>
                </a:solidFill>
              </a:defRPr>
            </a:pPr>
            <a:r>
              <a:t>A key challenge: redundant, correlated features that add noise and reduce generalization.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Research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38328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12121"/>
                </a:solidFill>
              </a:defRPr>
            </a:pPr>
            <a:r>
              <a:t>Many studies compare only a single algorithm under different conditions.</a:t>
            </a:r>
          </a:p>
          <a:p>
            <a:pPr>
              <a:spcAft>
                <a:spcPts val="500"/>
              </a:spcAft>
              <a:defRPr sz="1400" b="0">
                <a:solidFill>
                  <a:srgbClr val="212121"/>
                </a:solidFill>
              </a:defRPr>
            </a:pPr>
            <a:r>
              <a:t>Feature redundancy in medical datasets increases complexity without improving reliability.</a:t>
            </a:r>
          </a:p>
          <a:p>
            <a:pPr>
              <a:spcAft>
                <a:spcPts val="500"/>
              </a:spcAft>
              <a:defRPr sz="1400" b="0">
                <a:solidFill>
                  <a:srgbClr val="212121"/>
                </a:solidFill>
              </a:defRPr>
            </a:pPr>
            <a:r>
              <a:t>We need a fair, reproducible comparison of multiple classifiers on the same pipeline.</a:t>
            </a:r>
          </a:p>
          <a:p>
            <a:pPr>
              <a:spcAft>
                <a:spcPts val="500"/>
              </a:spcAft>
              <a:defRPr sz="1400" b="0">
                <a:solidFill>
                  <a:srgbClr val="212121"/>
                </a:solidFill>
              </a:defRPr>
            </a:pPr>
            <a:r>
              <a:t>Research question: Which model performs best, and does feature selection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38328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Classify Wisconsin Breast Cancer samples (Benign vs Malignant) using ML.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Apply feature selection to reduce redundancy and improve model reliability.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Compare Random Forest, Decision Tree, MLP, and Logistic Regression under identical conditions.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Evaluate with Accuracy, Precision, Recall, F1-Score, ROC-AUC, and confusion matrices.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Deliver reproducible code, visualizations, and explainability for clinical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Data &amp; Exploration</a:t>
            </a:r>
          </a:p>
          <a:p>
            <a:pPr>
              <a:spcAft>
                <a:spcPts val="500"/>
              </a:spcAft>
              <a:defRPr sz="1800" b="0">
                <a:solidFill>
                  <a:srgbClr val="E0F2F1"/>
                </a:solidFill>
              </a:defRPr>
            </a:pPr>
            <a:r>
              <a:t>Wisconsin Breast Cancer Dataset (UCI / WBCD)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3794760" cy="347472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96B"/>
                </a:solidFill>
              </a:defRPr>
            </a:pPr>
            <a:r>
              <a:t>Source &amp; structure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UCI Wisconsin Breast Cancer Dataset (WBCD)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569 digitized fine-needle aspirate samples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30 numeric features per sample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Target: Benign (B) or Malignant (M)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143000"/>
            <a:ext cx="3794760" cy="347472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96B"/>
                </a:solidFill>
              </a:defRPr>
            </a:pPr>
            <a:r>
              <a:t>Feature groups (×3 each)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Mean — average cell nucleus measurement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SE — standard error of the measurement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Worst — largest (worst) observed value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Attributes: radius, texture, perimeter, area,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  smoothness, compactness, concavity, symmetry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0D2B4E"/>
                </a:solidFill>
              </a:defRPr>
            </a:pPr>
            <a:r>
              <a:t>Class Distribution &amp; Split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62179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2011680"/>
              </a:tblGrid>
              <a:tr h="530352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 anchor="ctr">
                    <a:solidFill>
                      <a:srgbClr val="0D2B4E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0D2B4E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anchor="ctr">
                    <a:solidFill>
                      <a:srgbClr val="0D2B4E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D2B4E"/>
                    </a:solidFill>
                  </a:tcPr>
                </a:tc>
              </a:tr>
              <a:tr h="530352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Benign (B)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62.7%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Majority class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Malignant (M)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212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37.3%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Minority / positive class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Train 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Model fitting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Test set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Held-out evaluation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85032"/>
            <a:ext cx="8046720" cy="50292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t>Stratified split (random_state=42). No missing values after preprocessing.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Methodology</a:t>
            </a:r>
          </a:p>
          <a:p>
            <a:pPr>
              <a:spcAft>
                <a:spcPts val="500"/>
              </a:spcAft>
              <a:defRPr sz="1800" b="0">
                <a:solidFill>
                  <a:srgbClr val="E0F2F1"/>
                </a:solidFill>
              </a:defRPr>
            </a:pPr>
            <a:r>
              <a:t>Preprocessing, feature selection,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Experimental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38328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Load raw CSV → drop ID columns → encode diagnosis labels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Stratified 80/20 train/test split on all experiments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StandardScaler on all 30 numeric features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Train classifiers on identical preprocessed splits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Report metrics on held-out test set only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Python stack: Pandas, NumPy, scikit-learn, Matplotlib, Jupyter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Feature Selection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3794760" cy="347472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96B"/>
                </a:solidFill>
              </a:defRPr>
            </a:pPr>
            <a:r>
              <a:t>Analysis performed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Pearson correlation matrix across 30 features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Identify highly correlated feature pairs (redundancy)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Random Forest feature importance ranking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SHAP mean |value| for global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143000"/>
            <a:ext cx="3794760" cy="347472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96B"/>
                </a:solidFill>
              </a:defRPr>
            </a:pPr>
            <a:r>
              <a:t>Rationale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Redundant features increase noise and overfitting risk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Selection improves interpretability for clinicians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Top drivers: perimeter, concave points, radius, area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Consistent with published WBCD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Models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38328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Random Forest — primary model in src/breast_cancer_pipeline.py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Logistic Regression — interpretable linear baseline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Decision Tree (max_depth=5) — fast, interpretable reference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Multi-Layer Perceptron (64, 32) — neural network baseline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All models evaluated with the same preprocessing and test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Results</a:t>
            </a:r>
          </a:p>
          <a:p>
            <a:pPr>
              <a:spcAft>
                <a:spcPts val="500"/>
              </a:spcAft>
              <a:defRPr sz="1800" b="0">
                <a:solidFill>
                  <a:srgbClr val="E0F2F1"/>
                </a:solidFill>
              </a:defRPr>
            </a:pPr>
            <a:r>
              <a:t>Held-out test set performance (114 samples)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0D2B4E"/>
                </a:solidFill>
              </a:defRPr>
            </a:pPr>
            <a:r>
              <a:t>Model Performance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649224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005840"/>
                <a:gridCol w="822960"/>
                <a:gridCol w="822960"/>
                <a:gridCol w="914400"/>
              </a:tblGrid>
              <a:tr h="475488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D2B4E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D2B4E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0D2B4E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0D2B4E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0D2B4E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0D2B4E"/>
                    </a:solidFill>
                  </a:tcPr>
                </a:tc>
              </a:tr>
              <a:tr h="475488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Random Forest (deployed)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0.929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0.921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0.946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0.833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0.886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0.945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MLP (64, 32)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0.860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0.643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0.771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212121"/>
                          </a:solidFill>
                        </a:defRPr>
                      </a:pPr>
                      <a:r>
                        <a:t>0.978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935224"/>
            <a:ext cx="8046720" cy="50292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t>Positive class = Malignant (M). RF from src/breast_cancer_pipeline.py; others from notebooks/01_shared_setup.ipynb.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Selected Model: Random Forest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8046720" cy="960120"/>
          </a:xfrm>
          <a:prstGeom prst="roundRect">
            <a:avLst/>
          </a:prstGeom>
          <a:solidFill>
            <a:srgbClr val="E0F2F1"/>
          </a:solidFill>
          <a:ln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  <a:defRPr sz="1600" b="1">
                <a:solidFill>
                  <a:srgbClr val="0D2B4E"/>
                </a:solidFill>
              </a:defRPr>
            </a:pPr>
            <a:r>
              <a:t>Random Forest is used in the main pipeline, saved model, and Streamlit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8046720" cy="256032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Strong F1 (0.963) with perfect malignant precision on the held-out test set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Built-in feature importance supports our feature-selection analysis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Integrates cleanly with SHAP TreeExplainer for explainability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Saved artifact: results/metrics/breast_cancer_model.joblib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Explainability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3794760" cy="347472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96B"/>
                </a:solidFill>
              </a:defRPr>
            </a:pPr>
            <a:r>
              <a:t>SHAP analysis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Global SHAP ranks most influential nucleus features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Local SHAP explains individual patient predictions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Compared linear vs nonlinear model attributions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Supports clinical review — not a substitute for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143000"/>
            <a:ext cx="3794760" cy="347472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796B"/>
                </a:solidFill>
              </a:defRPr>
            </a:pPr>
            <a:r>
              <a:t>Streamlit application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Command: streamlit run src/ui_streamlit.py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Select patient → view prediction + probability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Display top SHAP contributors per case</a:t>
            </a:r>
          </a:p>
          <a:p>
            <a:pPr>
              <a:spcAft>
                <a:spcPts val="500"/>
              </a:spcAft>
              <a:defRPr sz="1200" b="0">
                <a:solidFill>
                  <a:srgbClr val="212121"/>
                </a:solidFill>
              </a:defRPr>
            </a:pPr>
            <a:r>
              <a:t>Reproducible artifact export to results/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38328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Single dataset — no external validation cohort yet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Small test set (114 samples) — metrics have sampling variance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Digitized features only — no imaging deep-learning pipeline yet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Research prototype — not validated for clinical deployment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Class imbalance (37% malignant) requires careful metric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38328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Deep learning feature extraction (autoencoders, 1D-CNNs) per recent literature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Stratified k-fold cross-validation and systematic hyperparameter search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Expand to survival/outcome datasets with richer clinical staging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External validation on independent breast cancer cohorts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Calibration analysis and decision-curve evaluation for clinical 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Key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38328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Multiple ML models achieve strong WBCD classification (AUC &gt; 0.94).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Random Forest is the selected model in our unified pipeline and demo.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Feature selection reduces redundancy and aligns with clinical intuition.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F1, precision, and recall are essential — accuracy alone is insufficient.</a:t>
            </a:r>
          </a:p>
          <a:p>
            <a:pPr>
              <a:spcAft>
                <a:spcPts val="500"/>
              </a:spcAft>
              <a:defRPr sz="1300" b="0">
                <a:solidFill>
                  <a:srgbClr val="212121"/>
                </a:solidFill>
              </a:defRPr>
            </a:pPr>
            <a:r>
              <a:t>SHAP and interactive demos improve transparency for stakeholders.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</p:spPr>
        <p:txBody>
          <a:bodyPr wrap="square" lIns="76200" rIns="76200" tIns="38100" b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D2B4E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38328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12121"/>
                </a:solidFill>
              </a:defRPr>
            </a:pPr>
            <a:r>
              <a:t>UCI ML Repository — Wisconsin Breast Cancer Dataset</a:t>
            </a:r>
          </a:p>
          <a:p>
            <a:pPr>
              <a:spcAft>
                <a:spcPts val="500"/>
              </a:spcAft>
              <a:defRPr sz="1100" b="0">
                <a:solidFill>
                  <a:srgbClr val="212121"/>
                </a:solidFill>
              </a:defRPr>
            </a:pPr>
            <a:r>
              <a:t>Carriero et al. (2024). Deep Learning in Breast Cancer Imaging. Diagnostics, 14(8), 848.</a:t>
            </a:r>
          </a:p>
          <a:p>
            <a:pPr>
              <a:spcAft>
                <a:spcPts val="500"/>
              </a:spcAft>
              <a:defRPr sz="1100" b="0">
                <a:solidFill>
                  <a:srgbClr val="212121"/>
                </a:solidFill>
              </a:defRPr>
            </a:pPr>
            <a:r>
              <a:t>Almansour et al. Neural Networks in Medical Diagnosis. MDPI.</a:t>
            </a:r>
          </a:p>
          <a:p>
            <a:pPr>
              <a:spcAft>
                <a:spcPts val="500"/>
              </a:spcAft>
              <a:defRPr sz="1100" b="0">
                <a:solidFill>
                  <a:srgbClr val="212121"/>
                </a:solidFill>
              </a:defRPr>
            </a:pPr>
            <a:r>
              <a:t>Recent ML/DL Review on Breast Cancer Detection (2025). Diagnostics, 16(4), 637.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1828800"/>
          </a:xfrm>
          <a:prstGeom prst="rect">
            <a:avLst/>
          </a:prstGeom>
          <a:noFill/>
        </p:spPr>
        <p:txBody>
          <a:bodyPr wrap="square" lIns="76200" rIns="76200" tIns="38100" bIns="38100" anchor="ctr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Aft>
                <a:spcPts val="800"/>
              </a:spcAft>
              <a:defRPr sz="2000" b="0">
                <a:solidFill>
                  <a:srgbClr val="E0F2F1"/>
                </a:solidFill>
              </a:defRPr>
            </a:pPr>
            <a:r>
              <a:t>Questions &amp; Discussion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Eduard Koshkelyan (618667)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Pham Hoang Quoc Viet Nguyen (618690)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Quang Thanh Nguyen (618992)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Thi Thanh Sen Doan (618665)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CS582 — Machine Learning  |  Slide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